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152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66CF-3055-8F71-8B71-8D2BAE94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CF099-D6BE-65EB-4E39-02ED33264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AB3E5-424B-5ABD-BCD1-171CA06F0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21D4B-EDC0-5D29-56B9-20C66AE2E0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34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1016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데이터 보호 및 안전한 처리 교육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583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데이터 보호 및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안전한 처리 교육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278892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작업 실수는 누구에게나 일어날 수 있습니다.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개인의 주의력보다 확인 절차와 팀 리뷰로 막아야 합니다.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886200"/>
            <a:ext cx="14630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정기 교육 자료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3886200"/>
            <a:ext cx="150876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운영/인프라팀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0" y="914400"/>
            <a:ext cx="3840480" cy="3840480"/>
          </a:xfrm>
          <a:prstGeom prst="arc">
            <a:avLst/>
          </a:prstGeom>
          <a:noFill/>
          <a:ln w="228600">
            <a:solidFill>
              <a:srgbClr val="BFD5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845552" y="1444752"/>
            <a:ext cx="2788920" cy="2788920"/>
          </a:xfrm>
          <a:prstGeom prst="arc">
            <a:avLst/>
          </a:prstGeom>
          <a:noFill/>
          <a:ln w="190500">
            <a:solidFill>
              <a:srgbClr val="93C5F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458200" y="2066544"/>
            <a:ext cx="1600200" cy="123444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49640" y="24505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4919472"/>
            <a:ext cx="3794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543800" y="51023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메시지: 실행 전 30초 확인이 복구 수일을 줄입니다.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 목적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데이터를 다루는 모든 운영 작업의 기본 원칙을 맞춥니다.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목적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데이터의 중요성 이해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141732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617720" y="20391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명령어와 작업 인지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0" y="141732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412480" y="20391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전 확인 절차 습관화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교육 후 기대 행동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1056132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000" lnSpcReduction="10000"/>
          </a:bodyPr>
          <a:lstStyle/>
          <a:p>
            <a:pPr>
              <a:lnSpc>
                <a:spcPct val="25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서버에서 삭제/초기화/동기화 작업 전 대상을 명확히 확인합니다.</a:t>
            </a:r>
            <a:endParaRPr lang="en-US" sz="1500" dirty="0"/>
          </a:p>
          <a:p>
            <a:pPr>
              <a:lnSpc>
                <a:spcPct val="25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 존재 여부가 아니라 실제 복구 가능성을 확인합니다.</a:t>
            </a:r>
            <a:endParaRPr lang="en-US" sz="1500" dirty="0"/>
          </a:p>
          <a:p>
            <a:pPr>
              <a:lnSpc>
                <a:spcPct val="25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명령어는 혼자 실행하지 않고 동료 검토를 받습니다.</a:t>
            </a:r>
            <a:endParaRPr lang="en-US" sz="1500" dirty="0"/>
          </a:p>
          <a:p>
            <a:pPr>
              <a:lnSpc>
                <a:spcPct val="25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사고가 의심되면 즉시 중단하고 보고합니다.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이 교육을 하나요?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번의 오타, 한 번의 대상 착각이 고객 데이터 사고로 이어질 수 있습니다.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배경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9260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의도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디스크 이미지 작성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또는 데이터 복사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77640" y="2423160"/>
            <a:ext cx="1005840" cy="502920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257800" y="1417320"/>
            <a:ext cx="29260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53212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실수 지점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0" y="2423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 장치/경로 혼동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옵션 미확인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94192" y="2423160"/>
            <a:ext cx="1005840" cy="502920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646920" y="1417320"/>
            <a:ext cx="1828800" cy="29718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948672" y="17373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57232" y="2395728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데이터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삭제/손상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010912"/>
            <a:ext cx="10332720" cy="438912"/>
          </a:xfrm>
          <a:prstGeom prst="rect">
            <a:avLst/>
          </a:prstGeom>
          <a:solidFill>
            <a:srgbClr val="EEF5FF"/>
          </a:solidFill>
          <a:ln>
            <a:solidFill>
              <a:srgbClr val="BFD5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교훈: 실수한 사람을 찾는 것보다, 실수가 사고로 이어지지 않게 절차를 설계하는 것이 핵심입니다.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데이터의 범위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“DB에 있는 개인정보”만 고객 데이터가 아닙니다.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범위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데이터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64792"/>
            <a:ext cx="2743200" cy="10332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생성한 파일, 분석 결과, 로그성 산출물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325880"/>
            <a:ext cx="2898648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계정/식별 정보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764792"/>
            <a:ext cx="2743200" cy="10332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ID, 이메일, 연락처, 인증 관련 기록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1325880"/>
            <a:ext cx="27432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3796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로그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1764792"/>
            <a:ext cx="2743200" cy="10332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접속 기록, 처리 이력, 장애/복구 로그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37960" y="1325880"/>
            <a:ext cx="27432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418320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 데이터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0" y="1764792"/>
            <a:ext cx="1965960" cy="10332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스냅샷, 덤프, 복제본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18320" y="1325880"/>
            <a:ext cx="19659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3429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주의할 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886200"/>
            <a:ext cx="10241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0000" lnSpcReduction="20000"/>
          </a:bodyPr>
          <a:lstStyle/>
          <a:p>
            <a:pPr>
              <a:lnSpc>
                <a:spcPct val="30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중인 원본뿐 아니라 백업, 임시 복사본, 마운트된 외부 스토리지도 보호 </a:t>
            </a:r>
            <a:r>
              <a:rPr lang="en-US" sz="15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대상입니다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500" dirty="0"/>
          </a:p>
          <a:p>
            <a:pPr>
              <a:lnSpc>
                <a:spcPct val="30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테스트라고 생각한 경로가 실제 운영 데이터일 수 있습니다.</a:t>
            </a:r>
            <a:endParaRPr lang="en-US" sz="1500" dirty="0"/>
          </a:p>
          <a:p>
            <a:pPr>
              <a:lnSpc>
                <a:spcPct val="30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삭제보다 더 위험한 것은 “조용히 손상되는 변경”입니다.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환경에서 특히 위험한 작업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아래 작업은 반드시 사전 확인과 검토가 필요합니다.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위험 작업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0116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디스크/파티션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1234440"/>
            <a:ext cx="81838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초기화</a:t>
            </a: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포맷, 이미지 </a:t>
            </a:r>
            <a:r>
              <a:rPr lang="en-US" sz="14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쓰기</a:t>
            </a: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마운트 변경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20116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삭제/정리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892808"/>
            <a:ext cx="81838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rm, find -delete, 로그/임시 파일 정리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51176"/>
            <a:ext cx="20116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동기화/복제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2551176"/>
            <a:ext cx="81838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rsync</a:t>
            </a: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--delete, 스토리지 복제 방향 변경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209544"/>
            <a:ext cx="20116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권한/소유자 변경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3209544"/>
            <a:ext cx="81838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chown</a:t>
            </a: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/chmod 재귀 적용, ACL 변경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867912"/>
            <a:ext cx="20116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백업/복구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3867912"/>
            <a:ext cx="818388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</a:t>
            </a: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덮어쓰기, 복구 대상 경로 착각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562857"/>
            <a:ext cx="10241280" cy="896111"/>
          </a:xfrm>
          <a:prstGeom prst="rect">
            <a:avLst/>
          </a:prstGeom>
          <a:solidFill>
            <a:srgbClr val="EEF5FF"/>
          </a:solidFill>
          <a:ln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기억할 원칙: “</a:t>
            </a:r>
            <a:r>
              <a:rPr lang="ko-KR" altLang="en-US" sz="15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</a:t>
            </a:r>
            <a:r>
              <a:rPr lang="en-US" sz="15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험 작업”은 사람이 아니라 명령어와 대상이 위험한 것입니다.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 err="1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</a:t>
            </a:r>
            <a:r>
              <a:rPr lang="en-US" sz="15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절차로 통제합니다.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주의해야 할 명령어와 옵션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명령어 자체보다 대상 경로와 옵션 조합이 사고를 만듭니다.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명령어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673352"/>
            <a:ext cx="36576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if=, of= 대상 확인 필수. of=는 </a:t>
            </a:r>
            <a:r>
              <a:rPr lang="en-US" sz="1050" dirty="0" err="1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쓰기</a:t>
            </a: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대상입니다</a:t>
            </a: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3657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61772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rm / find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1673352"/>
            <a:ext cx="36576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재귀 삭제, 와일드카드, -delete 사용 전 경로 확인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3657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mkfs / wipefs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16352"/>
            <a:ext cx="36576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파일시스템 생성/서명 삭제. 운영 디스크에 치명적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377440"/>
            <a:ext cx="3657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rsync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816352"/>
            <a:ext cx="36576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--delete, --inplace, 방향성 확인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377440"/>
            <a:ext cx="3657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chown / chmod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959352"/>
            <a:ext cx="36576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-R 재귀 적용 시 범위 확인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520440"/>
            <a:ext cx="3657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45820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전 멈춤 포인트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1673352"/>
            <a:ext cx="2834640" cy="2724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명령어에 /dev/sdX, /dev/nvmeXnY, --delete, -R, *, of=, mkfs, wipefs가 보이면 바로 멈추고 재확인합니다.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58200" y="1234440"/>
            <a:ext cx="2834640" cy="3200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OpenHPC/Slurm 환경 특화 위험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클러스터 관리 명령은 한 번의 실행이 여러 노드와 다수 사용자의 작업에 동시에 영향을 줍니다.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HPC 특화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wwctl node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673352"/>
            <a:ext cx="36576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node delete/set, wwctl overlay --node 시 대상 노드명(--all 포함 여부) 재확인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234440"/>
            <a:ext cx="3813048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61772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scancel / scontrol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1673352"/>
            <a:ext cx="36576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scancel -u, scontrol update NodeName= 대상 사용자/노드 확인. 타인 작업·운영 노드 상태 변경 주의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3657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sacctmgr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16352"/>
            <a:ext cx="36576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delete account/user 시 과금(Accounting) 이력이 영구 삭제됩니다. 복구 불가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2377440"/>
            <a:ext cx="3813048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slurm.conf 배포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816352"/>
            <a:ext cx="36576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 후 scontrol reconfigure로 전 노드에 전파. 오탈자 시 클러스터 스케줄링 전체 중단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377440"/>
            <a:ext cx="3657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3520440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공유 스토리지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959352"/>
            <a:ext cx="36576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NFS/Lustre 공유 경로는 모든 노드에서 동시에 변경됩니다. 마운트 위치 재확인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" y="3520440"/>
            <a:ext cx="3813048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45820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HPC 작업 멈춤 포인트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1673352"/>
            <a:ext cx="2834640" cy="2724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명령어에 wwctl ... delete, scancel -u, sacctmgr delete, scontrol reconfigure, --all이 보이면 바로 멈추고 대상을 재확인합니다.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58200" y="1234440"/>
            <a:ext cx="2834640" cy="3200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전 5단계 확인 절차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전 30초를 표준 절차로 만듭니다.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절차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828800" cy="77724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04672" y="213055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20939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 확인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hostname, IP, 용도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920240"/>
            <a:ext cx="1828800" cy="77724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90672" y="213055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6432" y="20939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디스크, 파티션, 경로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1920240"/>
            <a:ext cx="1828800" cy="77724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76672" y="213055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42432" y="20939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 확인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시점, 위치, 복구 가능성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0" y="1920240"/>
            <a:ext cx="1828800" cy="77724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662672" y="213055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28432" y="20939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명령어 리뷰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3524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옵션과 방향성 검토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875520" y="1920240"/>
            <a:ext cx="1828800" cy="777240"/>
          </a:xfrm>
          <a:prstGeom prst="chevron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948672" y="213055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14432" y="20939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동료 확인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21240" y="2926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작업은 2인 검토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34440" y="4800600"/>
            <a:ext cx="9692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체크리스트는 “형식”이 아니라 작업자의 기억을 대신하는 안전장치입니다.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안전한 명령어 사용 습관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명령어 실행 전에는 “대상 확인 명령”을 먼저 실행합니다.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습관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34290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현재 위치 확인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673352"/>
            <a:ext cx="3429000" cy="11704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pwd, hostname, whoami, date를 먼저 확인하고 작업 로그에 남깁니다.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34290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89120" y="1234440"/>
            <a:ext cx="34290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대상 장치 확인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673352"/>
            <a:ext cx="3429000" cy="11704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lsblk, blkid, df -h, mount로 장치와 마운트 경로를 확인합니다.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34290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001000" y="1234440"/>
            <a:ext cx="34290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dry-run 선호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0" y="1673352"/>
            <a:ext cx="3429000" cy="11704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rsync는 가능하면 --dry-run으로 결과를 먼저 확인합니다.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1234440"/>
            <a:ext cx="34290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6868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습관 예시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10241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 &amp;&amp; pwd &amp;&amp; df -h &amp;&amp; lsblk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위험 명령어는 바로 실행하지 않고, 대상과 옵션을 동료에게 공유 후 실행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 확인은 “있다”가 아니라 “복구된다”입니다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 파일 존재 여부만으로는 안전하다고 말할 수 없습니다.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 백업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325880"/>
            <a:ext cx="5001768" cy="3611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위험한 생각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331720"/>
            <a:ext cx="38862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0000" lnSpcReduction="20000"/>
          </a:bodyPr>
          <a:lstStyle/>
          <a:p>
            <a:pPr algn="ctr">
              <a:lnSpc>
                <a:spcPct val="30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 서버에 파일이 보이니 괜찮다</a:t>
            </a:r>
            <a:endParaRPr lang="en-US" sz="1500" dirty="0"/>
          </a:p>
          <a:p>
            <a:pPr algn="ctr">
              <a:lnSpc>
                <a:spcPct val="30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최근 백업이 있을 것이다</a:t>
            </a:r>
            <a:endParaRPr lang="en-US" sz="1500" dirty="0"/>
          </a:p>
          <a:p>
            <a:pPr algn="ctr">
              <a:lnSpc>
                <a:spcPct val="30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 나면 그때 복구하면 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1325880"/>
            <a:ext cx="4937760" cy="36118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766560" y="1645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올바른 확인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2331720"/>
            <a:ext cx="38862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0000" lnSpcReduction="20000"/>
          </a:bodyPr>
          <a:lstStyle/>
          <a:p>
            <a:pPr algn="ctr">
              <a:lnSpc>
                <a:spcPct val="30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 시점과 범위를 확인한다</a:t>
            </a:r>
            <a:endParaRPr lang="en-US" sz="1500" dirty="0"/>
          </a:p>
          <a:p>
            <a:pPr algn="ctr">
              <a:lnSpc>
                <a:spcPct val="30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샘플 복구 또는 복구 절차를 확인한다</a:t>
            </a:r>
            <a:endParaRPr lang="en-US" sz="1500" dirty="0"/>
          </a:p>
          <a:p>
            <a:pPr algn="ctr">
              <a:lnSpc>
                <a:spcPct val="300000"/>
              </a:lnSpc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덮어쓰기/삭제 전 스냅샷을 검토한다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53583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백업은 “보관”이 아니라 “복구 능력”입니다.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사고가 의심될 때 즉시 해야 할 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보고가 피해를 줄입니다. 숨기거나 복구를 혼자 시도하면 더 커집니다.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 대응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384048" cy="38404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2527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97480" y="1252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 실행, 배치, 동기화 즉시 중단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84048" cy="38404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029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2029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터미널, 로그, 화면, 시간 정보 보존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384048" cy="38404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072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28072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책임자/보안/운영 담당자에게 즉시 공유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566160"/>
            <a:ext cx="384048" cy="38404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84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격리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35844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 시 네트워크/스토리지 접근 제한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343400"/>
            <a:ext cx="384048" cy="3840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361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97480" y="4361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승인된 절차로 복구 진행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504688"/>
            <a:ext cx="10195560" cy="411480"/>
          </a:xfrm>
          <a:prstGeom prst="rect">
            <a:avLst/>
          </a:prstGeom>
          <a:solidFill>
            <a:srgbClr val="FEE2E2"/>
          </a:solidFill>
          <a:ln>
            <a:solidFill>
              <a:srgbClr val="FCA5A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절대 금지: 로그 삭제, 임의 복구, 추가 </a:t>
            </a:r>
            <a:r>
              <a:rPr lang="en-US" sz="1600" b="1" dirty="0" err="1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쓰기</a:t>
            </a:r>
            <a:r>
              <a:rPr lang="en-US" sz="16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작업, 사고 축소 보고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책임은 개인에게만 두지 않습니다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보호는 작업자, 리뷰어, 조직 절차가 함께 만드는 결과입니다.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 역할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32461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3246120" cy="2496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 확인, 명령어 공유, 체크리스트 완료, 작업 로그 기록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3246120" cy="2971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4480560" y="1325880"/>
            <a:ext cx="32461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리뷰어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764792"/>
            <a:ext cx="3246120" cy="2496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옵션, 대상 서버, 백업/복구 가능성 재확인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3246120" cy="2971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138160" y="1325880"/>
            <a:ext cx="32461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0" y="1764792"/>
            <a:ext cx="3246120" cy="2496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권한 분리, 승인 절차, 백업 정책, 사고 대응 체계 유지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325880"/>
            <a:ext cx="3246120" cy="2971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10149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운영 문화는 “빨리 끝내기”보다 “틀리지 않게 끝내기”를 우선합니다.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전 체크리스트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작업 전에는 아래 항목을 확인하고 기록합니다.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 체크리스트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170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1612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접속한 서버가 운영/테스트/백업 중 무엇인지 확인했다.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82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733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대상 디스크, 파티션, 디렉터리를 정확히 확인했다.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18541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hostname, IP, df -h, lsblk 또는 mount 결과를 확인했다.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06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6974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명령어에 --delete, of=, -R, *, /dev/sdX, wwctl ... delete, scancel -u, sacctmgr delete 등이 있는지 확인했다.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2095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백업 시점과 복구 가능성을 확인했다.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730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72160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동료 또는 책임자에게 명령어와 대상을 공유했다.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2428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23367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사고 발생 시 즉시 보고할 담당자를 알고 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41324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체크리스트 문서는 별도 첨부되어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 확인 퀴즈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정답보다 중요한 것은 실제 작업에서 떠올리는 것입니다.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 퀴즈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34439"/>
            <a:ext cx="10378440" cy="618423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1.dd 명령어에서 of= 옵션은 </a:t>
            </a:r>
            <a:r>
              <a:rPr lang="en-US" sz="15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의미하나요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  </a:t>
            </a:r>
            <a:r>
              <a:rPr lang="ko-KR" altLang="en-US" sz="150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ㄴ</a:t>
            </a:r>
            <a:endParaRPr lang="en-US" altLang="ko-KR" sz="1500" dirty="0">
              <a:solidFill>
                <a:schemeClr val="bg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1984247"/>
            <a:ext cx="10378440" cy="618423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2.운영 서버에서 디스크 작업 전 반드시 확인할 정보 3가지는? </a:t>
            </a:r>
          </a:p>
        </p:txBody>
      </p:sp>
      <p:sp>
        <p:nvSpPr>
          <p:cNvPr id="7" name="Text 5"/>
          <p:cNvSpPr/>
          <p:nvPr/>
        </p:nvSpPr>
        <p:spPr>
          <a:xfrm>
            <a:off x="868680" y="2734055"/>
            <a:ext cx="10378440" cy="73705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3.rsync --delete 사용 전 확인해야 할 가장 중요한 </a:t>
            </a:r>
            <a:r>
              <a:rPr lang="en-US" sz="15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것은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</a:p>
          <a:p>
            <a:pPr algn="ctr"/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546428"/>
            <a:ext cx="10378440" cy="865552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4.백업이 있다고 해서 바로 위험 명령어를 실행해도 되나요? </a:t>
            </a:r>
            <a:r>
              <a:rPr lang="en-US" sz="15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이유는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</a:p>
          <a:p>
            <a:pPr algn="ctr"/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585474"/>
            <a:ext cx="10378440" cy="865552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5.사고가 의심될 때 가장 먼저 해야 할 </a:t>
            </a:r>
            <a:r>
              <a:rPr lang="en-US" sz="15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행동은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</a:p>
          <a:p>
            <a:pPr algn="ctr"/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500" dirty="0"/>
          </a:p>
        </p:txBody>
      </p:sp>
      <p:sp>
        <p:nvSpPr>
          <p:cNvPr id="26" name="Text 7b"/>
          <p:cNvSpPr/>
          <p:nvPr/>
        </p:nvSpPr>
        <p:spPr>
          <a:xfrm>
            <a:off x="868680" y="5613936"/>
            <a:ext cx="10378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6.wwctl 또는 scontrol로 노드를 제어하기 전 반드시 확인해야 할 것</a:t>
            </a:r>
            <a:r>
              <a:rPr lang="en-US" altLang="ko-KR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</a:p>
          <a:p>
            <a:pPr algn="ctr"/>
            <a:r>
              <a:rPr lang="en-US" altLang="ko-KR" sz="1600" dirty="0"/>
              <a:t> 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CCEB-1D51-50F5-6575-4F303FB2F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8200A3-BB83-27AF-7AE2-2D441AB40586}"/>
              </a:ext>
            </a:extLst>
          </p:cNvPr>
          <p:cNvSpPr/>
          <p:nvPr/>
        </p:nvSpPr>
        <p:spPr>
          <a:xfrm>
            <a:off x="594360" y="3474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 확인 퀴즈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882F17-F5D8-1646-CCF5-551E76A22296}"/>
              </a:ext>
            </a:extLst>
          </p:cNvPr>
          <p:cNvSpPr/>
          <p:nvPr/>
        </p:nvSpPr>
        <p:spPr>
          <a:xfrm>
            <a:off x="621792" y="7863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정답보다 중요한 것은 실제 작업에서 떠올리는 것입니다.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9C19BE-C7BA-E5C3-B94C-37DDD5140C92}"/>
              </a:ext>
            </a:extLst>
          </p:cNvPr>
          <p:cNvSpPr/>
          <p:nvPr/>
        </p:nvSpPr>
        <p:spPr>
          <a:xfrm>
            <a:off x="9509760" y="411480"/>
            <a:ext cx="1920240" cy="347472"/>
          </a:xfrm>
          <a:prstGeom prst="rect">
            <a:avLst/>
          </a:prstGeom>
          <a:solidFill>
            <a:srgbClr val="EEF5FF"/>
          </a:solidFill>
          <a:ln w="12700">
            <a:solidFill>
              <a:srgbClr val="BFD5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 퀴즈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572955-D9B8-C9B5-713C-31DC9405D1F3}"/>
              </a:ext>
            </a:extLst>
          </p:cNvPr>
          <p:cNvSpPr/>
          <p:nvPr/>
        </p:nvSpPr>
        <p:spPr>
          <a:xfrm>
            <a:off x="868680" y="1234439"/>
            <a:ext cx="10378440" cy="618423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 명령어에서 of= 옵션은 무엇을 </a:t>
            </a:r>
            <a:r>
              <a:rPr lang="en-US" sz="15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의미하나요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  </a:t>
            </a:r>
            <a:r>
              <a:rPr lang="ko-KR" altLang="en-US" sz="1500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ㄴ</a:t>
            </a:r>
            <a:endParaRPr lang="en-US" altLang="ko-KR" sz="1500" dirty="0">
              <a:solidFill>
                <a:schemeClr val="bg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r>
              <a:rPr lang="en-US" altLang="ko-KR" sz="1600" dirty="0" err="1"/>
              <a:t>쓰기</a:t>
            </a:r>
            <a:r>
              <a:rPr lang="en-US" altLang="ko-KR" sz="1600" dirty="0"/>
              <a:t> </a:t>
            </a:r>
            <a:r>
              <a:rPr lang="en-US" altLang="ko-KR" sz="1600" dirty="0" err="1"/>
              <a:t>대상입니다</a:t>
            </a:r>
            <a:r>
              <a:rPr lang="en-US" altLang="ko-KR" sz="1600" dirty="0"/>
              <a:t>. of= </a:t>
            </a:r>
            <a:r>
              <a:rPr lang="en-US" altLang="ko-KR" sz="1600" dirty="0" err="1"/>
              <a:t>대상이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잘못되면</a:t>
            </a:r>
            <a:r>
              <a:rPr lang="en-US" altLang="ko-KR" sz="1600" dirty="0"/>
              <a:t> </a:t>
            </a:r>
            <a:r>
              <a:rPr lang="en-US" altLang="ko-KR" sz="1600" dirty="0" err="1"/>
              <a:t>해당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장치나</a:t>
            </a:r>
            <a:r>
              <a:rPr lang="en-US" altLang="ko-KR" sz="1600" dirty="0"/>
              <a:t> </a:t>
            </a:r>
            <a:r>
              <a:rPr lang="en-US" altLang="ko-KR" sz="1600" dirty="0" err="1"/>
              <a:t>파일이</a:t>
            </a:r>
            <a:r>
              <a:rPr lang="en-US" altLang="ko-KR" sz="1600" dirty="0"/>
              <a:t> </a:t>
            </a:r>
            <a:r>
              <a:rPr lang="en-US" altLang="ko-KR" sz="1600" dirty="0" err="1"/>
              <a:t>덮어써질</a:t>
            </a:r>
            <a:r>
              <a:rPr lang="en-US" altLang="ko-KR" sz="1600" dirty="0"/>
              <a:t> 수 </a:t>
            </a:r>
            <a:r>
              <a:rPr lang="en-US" altLang="ko-KR" sz="1600" dirty="0" err="1"/>
              <a:t>있습니다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2E5755-D94D-819B-3B41-EE2A8BA3E4D0}"/>
              </a:ext>
            </a:extLst>
          </p:cNvPr>
          <p:cNvSpPr/>
          <p:nvPr/>
        </p:nvSpPr>
        <p:spPr>
          <a:xfrm>
            <a:off x="868680" y="1984247"/>
            <a:ext cx="10378440" cy="618423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운영 서버에서 디스크 작업 전 반드시 확인할 정보 3가지는? </a:t>
            </a:r>
          </a:p>
          <a:p>
            <a:r>
              <a:rPr lang="en-US" altLang="ko-KR" dirty="0"/>
              <a:t>hostname, IP, </a:t>
            </a:r>
            <a:r>
              <a:rPr lang="en-US" altLang="ko-KR" dirty="0" err="1"/>
              <a:t>df</a:t>
            </a:r>
            <a:r>
              <a:rPr lang="en-US" altLang="ko-KR" dirty="0"/>
              <a:t> -h, </a:t>
            </a:r>
            <a:r>
              <a:rPr lang="en-US" altLang="ko-KR" dirty="0" err="1"/>
              <a:t>lsblk</a:t>
            </a:r>
            <a:r>
              <a:rPr lang="en-US" altLang="ko-KR" dirty="0"/>
              <a:t>, mount, </a:t>
            </a:r>
            <a:r>
              <a:rPr lang="en-US" altLang="ko-KR" dirty="0" err="1"/>
              <a:t>대상</a:t>
            </a:r>
            <a:r>
              <a:rPr lang="en-US" altLang="ko-KR" dirty="0"/>
              <a:t> </a:t>
            </a:r>
            <a:r>
              <a:rPr lang="en-US" altLang="ko-KR" dirty="0" err="1"/>
              <a:t>경로</a:t>
            </a:r>
            <a:r>
              <a:rPr lang="en-US" altLang="ko-KR" dirty="0"/>
              <a:t>, </a:t>
            </a:r>
            <a:r>
              <a:rPr lang="en-US" altLang="ko-KR" dirty="0" err="1"/>
              <a:t>파티션</a:t>
            </a:r>
            <a:r>
              <a:rPr lang="en-US" altLang="ko-KR" dirty="0"/>
              <a:t> </a:t>
            </a:r>
            <a:r>
              <a:rPr lang="en-US" altLang="ko-KR" dirty="0" err="1"/>
              <a:t>정보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09C070-5F0E-C37A-919A-90EBBE39EA76}"/>
              </a:ext>
            </a:extLst>
          </p:cNvPr>
          <p:cNvSpPr/>
          <p:nvPr/>
        </p:nvSpPr>
        <p:spPr>
          <a:xfrm>
            <a:off x="868680" y="2734055"/>
            <a:ext cx="10378440" cy="737056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rsync --delete 사용 전 확인해야 할 가장 중요한 </a:t>
            </a:r>
            <a:r>
              <a:rPr lang="en-US" sz="15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것은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</a:p>
          <a:p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dirty="0" err="1"/>
              <a:t>동기화</a:t>
            </a:r>
            <a:r>
              <a:rPr lang="en-US" altLang="ko-KR" dirty="0"/>
              <a:t> </a:t>
            </a:r>
            <a:r>
              <a:rPr lang="en-US" altLang="ko-KR" dirty="0" err="1"/>
              <a:t>방향과</a:t>
            </a:r>
            <a:r>
              <a:rPr lang="en-US" altLang="ko-KR" dirty="0"/>
              <a:t> </a:t>
            </a:r>
            <a:r>
              <a:rPr lang="en-US" altLang="ko-KR" dirty="0" err="1"/>
              <a:t>삭제</a:t>
            </a:r>
            <a:r>
              <a:rPr lang="en-US" altLang="ko-KR" dirty="0"/>
              <a:t> </a:t>
            </a:r>
            <a:r>
              <a:rPr lang="en-US" altLang="ko-KR" dirty="0" err="1"/>
              <a:t>대상입니다</a:t>
            </a:r>
            <a:r>
              <a:rPr lang="en-US" altLang="ko-KR" dirty="0"/>
              <a:t>. </a:t>
            </a:r>
            <a:r>
              <a:rPr lang="en-US" altLang="ko-KR" dirty="0" err="1"/>
              <a:t>원본</a:t>
            </a:r>
            <a:r>
              <a:rPr lang="en-US" altLang="ko-KR" dirty="0"/>
              <a:t>/</a:t>
            </a:r>
            <a:r>
              <a:rPr lang="en-US" altLang="ko-KR" dirty="0" err="1"/>
              <a:t>대상이</a:t>
            </a:r>
            <a:r>
              <a:rPr lang="en-US" altLang="ko-KR" dirty="0"/>
              <a:t> </a:t>
            </a:r>
            <a:r>
              <a:rPr lang="en-US" altLang="ko-KR" dirty="0" err="1"/>
              <a:t>바뀌면</a:t>
            </a:r>
            <a:r>
              <a:rPr lang="en-US" altLang="ko-KR" dirty="0"/>
              <a:t> </a:t>
            </a:r>
            <a:r>
              <a:rPr lang="en-US" altLang="ko-KR" dirty="0" err="1"/>
              <a:t>정상</a:t>
            </a:r>
            <a:r>
              <a:rPr lang="en-US" altLang="ko-KR" dirty="0"/>
              <a:t> </a:t>
            </a:r>
            <a:r>
              <a:rPr lang="en-US" altLang="ko-KR" dirty="0" err="1"/>
              <a:t>데이터가</a:t>
            </a:r>
            <a:r>
              <a:rPr lang="en-US" altLang="ko-KR" dirty="0"/>
              <a:t> </a:t>
            </a:r>
            <a:r>
              <a:rPr lang="en-US" altLang="ko-KR" dirty="0" err="1"/>
              <a:t>삭제될</a:t>
            </a:r>
            <a:r>
              <a:rPr lang="en-US" altLang="ko-KR" dirty="0"/>
              <a:t> 수 </a:t>
            </a:r>
            <a:r>
              <a:rPr lang="en-US" altLang="ko-KR" dirty="0" err="1"/>
              <a:t>있습니다</a:t>
            </a:r>
            <a:r>
              <a:rPr lang="en-US" altLang="ko-KR" dirty="0"/>
              <a:t>.</a:t>
            </a:r>
            <a:endParaRPr lang="ko-KR" altLang="ko-KR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D5B99C6-29D2-A0B7-17FF-FB354633AD16}"/>
              </a:ext>
            </a:extLst>
          </p:cNvPr>
          <p:cNvSpPr/>
          <p:nvPr/>
        </p:nvSpPr>
        <p:spPr>
          <a:xfrm>
            <a:off x="868680" y="3546428"/>
            <a:ext cx="10378440" cy="865552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백업이 있다고 해서 바로 위험 명령어를 실행해도 되나요? </a:t>
            </a:r>
            <a:r>
              <a:rPr lang="en-US" sz="15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이유는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</a:p>
          <a:p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dirty="0" err="1"/>
              <a:t>아니요</a:t>
            </a:r>
            <a:r>
              <a:rPr lang="en-US" altLang="ko-KR" dirty="0"/>
              <a:t>. </a:t>
            </a:r>
            <a:r>
              <a:rPr lang="en-US" altLang="ko-KR" dirty="0" err="1"/>
              <a:t>백업</a:t>
            </a:r>
            <a:r>
              <a:rPr lang="en-US" altLang="ko-KR" dirty="0"/>
              <a:t> </a:t>
            </a:r>
            <a:r>
              <a:rPr lang="en-US" altLang="ko-KR" dirty="0" err="1"/>
              <a:t>시점</a:t>
            </a:r>
            <a:r>
              <a:rPr lang="en-US" altLang="ko-KR" dirty="0"/>
              <a:t>, </a:t>
            </a:r>
            <a:r>
              <a:rPr lang="en-US" altLang="ko-KR" dirty="0" err="1"/>
              <a:t>범위</a:t>
            </a:r>
            <a:r>
              <a:rPr lang="en-US" altLang="ko-KR" dirty="0"/>
              <a:t>, </a:t>
            </a:r>
            <a:r>
              <a:rPr lang="en-US" altLang="ko-KR" dirty="0" err="1"/>
              <a:t>복구</a:t>
            </a:r>
            <a:r>
              <a:rPr lang="en-US" altLang="ko-KR" dirty="0"/>
              <a:t> </a:t>
            </a:r>
            <a:r>
              <a:rPr lang="en-US" altLang="ko-KR" dirty="0" err="1"/>
              <a:t>가능성이</a:t>
            </a:r>
            <a:r>
              <a:rPr lang="en-US" altLang="ko-KR" dirty="0"/>
              <a:t> </a:t>
            </a:r>
            <a:r>
              <a:rPr lang="en-US" altLang="ko-KR" dirty="0" err="1"/>
              <a:t>확인되어야</a:t>
            </a:r>
            <a:r>
              <a:rPr lang="en-US" altLang="ko-KR" dirty="0"/>
              <a:t> </a:t>
            </a:r>
            <a:r>
              <a:rPr lang="en-US" altLang="ko-KR" dirty="0" err="1"/>
              <a:t>안전합니다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899E2A-5532-47BB-D0B0-EC3FEA71F65D}"/>
              </a:ext>
            </a:extLst>
          </p:cNvPr>
          <p:cNvSpPr/>
          <p:nvPr/>
        </p:nvSpPr>
        <p:spPr>
          <a:xfrm>
            <a:off x="868680" y="4585474"/>
            <a:ext cx="10378440" cy="865552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사고가 의심될 때 가장 먼저 해야 할 </a:t>
            </a:r>
            <a:r>
              <a:rPr lang="en-US" sz="1500" dirty="0" err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행동은</a:t>
            </a: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</a:p>
          <a:p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dirty="0" err="1"/>
              <a:t>작업을</a:t>
            </a:r>
            <a:r>
              <a:rPr lang="en-US" altLang="ko-KR" dirty="0"/>
              <a:t> </a:t>
            </a:r>
            <a:r>
              <a:rPr lang="en-US" altLang="ko-KR" dirty="0" err="1"/>
              <a:t>즉시</a:t>
            </a:r>
            <a:r>
              <a:rPr lang="en-US" altLang="ko-KR" dirty="0"/>
              <a:t> </a:t>
            </a:r>
            <a:r>
              <a:rPr lang="en-US" altLang="ko-KR" dirty="0" err="1"/>
              <a:t>중단하고</a:t>
            </a:r>
            <a:r>
              <a:rPr lang="en-US" altLang="ko-KR" dirty="0"/>
              <a:t> </a:t>
            </a:r>
            <a:r>
              <a:rPr lang="en-US" altLang="ko-KR" dirty="0" err="1"/>
              <a:t>로그와</a:t>
            </a:r>
            <a:r>
              <a:rPr lang="en-US" altLang="ko-KR" dirty="0"/>
              <a:t> </a:t>
            </a:r>
            <a:r>
              <a:rPr lang="en-US" altLang="ko-KR" dirty="0" err="1"/>
              <a:t>화면</a:t>
            </a:r>
            <a:r>
              <a:rPr lang="en-US" altLang="ko-KR" dirty="0"/>
              <a:t> </a:t>
            </a:r>
            <a:r>
              <a:rPr lang="en-US" altLang="ko-KR" dirty="0" err="1"/>
              <a:t>정보를</a:t>
            </a:r>
            <a:r>
              <a:rPr lang="en-US" altLang="ko-KR" dirty="0"/>
              <a:t> </a:t>
            </a:r>
            <a:r>
              <a:rPr lang="en-US" altLang="ko-KR" dirty="0" err="1"/>
              <a:t>보존한</a:t>
            </a:r>
            <a:r>
              <a:rPr lang="en-US" altLang="ko-KR" dirty="0"/>
              <a:t> 뒤 </a:t>
            </a:r>
            <a:r>
              <a:rPr lang="en-US" altLang="ko-KR" dirty="0" err="1"/>
              <a:t>책임자에게</a:t>
            </a:r>
            <a:r>
              <a:rPr lang="en-US" altLang="ko-KR" dirty="0"/>
              <a:t> </a:t>
            </a:r>
            <a:r>
              <a:rPr lang="en-US" altLang="ko-KR" dirty="0" err="1"/>
              <a:t>보고합니다</a:t>
            </a:r>
            <a:endParaRPr lang="en-US" sz="1500" dirty="0"/>
          </a:p>
        </p:txBody>
      </p:sp>
      <p:sp>
        <p:nvSpPr>
          <p:cNvPr id="26" name="Text 7b">
            <a:extLst>
              <a:ext uri="{FF2B5EF4-FFF2-40B4-BE49-F238E27FC236}">
                <a16:creationId xmlns:a16="http://schemas.microsoft.com/office/drawing/2014/main" id="{9D0AE3CC-026C-99F7-C513-5C73356C82A8}"/>
              </a:ext>
            </a:extLst>
          </p:cNvPr>
          <p:cNvSpPr/>
          <p:nvPr/>
        </p:nvSpPr>
        <p:spPr>
          <a:xfrm>
            <a:off x="868680" y="5613936"/>
            <a:ext cx="10378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wwctl 또는 scontrol로 노드를 제어하기 전 반드시 확인해야 할 것</a:t>
            </a:r>
            <a:r>
              <a:rPr lang="en-US" altLang="ko-KR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?</a:t>
            </a:r>
          </a:p>
          <a:p>
            <a:r>
              <a:rPr lang="en-US" altLang="ko-KR" sz="1600" dirty="0"/>
              <a:t> </a:t>
            </a:r>
            <a:r>
              <a:rPr lang="en-US" altLang="ko-KR" sz="1400" dirty="0" err="1"/>
              <a:t>대상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노드명과</a:t>
            </a:r>
            <a:r>
              <a:rPr lang="en-US" altLang="ko-KR" sz="1400" dirty="0"/>
              <a:t> --all </a:t>
            </a:r>
            <a:r>
              <a:rPr lang="en-US" altLang="ko-KR" sz="1400" dirty="0" err="1"/>
              <a:t>포함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여부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해당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노드에서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실행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중인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다른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사용자의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작업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유무입니다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노드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상태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변경은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여러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사용자의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작업에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동시에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영향을</a:t>
            </a:r>
            <a:r>
              <a:rPr lang="en-US" altLang="ko-KR" sz="1400" dirty="0"/>
              <a:t> </a:t>
            </a:r>
            <a:r>
              <a:rPr lang="en-US" altLang="ko-KR" sz="1400" dirty="0" err="1"/>
              <a:t>줍니다</a:t>
            </a:r>
            <a:endParaRPr lang="ko-KR" altLang="ko-KR" sz="24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EC1AA86-3800-EB36-39D1-06E393D1F3A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02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마무리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6858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데이터 보호는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운영자의 가장 기본적인 신뢰입니다.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77240" y="3154680"/>
            <a:ext cx="6766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CE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실수는 발생할 수 있습니다.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CE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 확인 절차, 동료 리뷰, 백업 검증, 빠른 보고가 있으면 사고로 번지는 것을 막을 수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46720" y="1234440"/>
            <a:ext cx="2971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366760" y="16002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오늘부터 지킬 3가지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17568" y="2240280"/>
            <a:ext cx="2628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실행 전 대상 확인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위험 명령어 2인 검토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의심 시 즉시 중단/보고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3252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1494</Words>
  <Application>Microsoft Office PowerPoint</Application>
  <PresentationFormat>와이드스크린</PresentationFormat>
  <Paragraphs>254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Noto Sans CJK KR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Dasan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 데이터 보호 및 안전한 처리 교육</dc:title>
  <dc:subject>고객 데이터 보호 및 안전한 처리 교육</dc:subject>
  <dc:creator>Dasan Data</dc:creator>
  <cp:lastModifiedBy>이광선</cp:lastModifiedBy>
  <cp:revision>2</cp:revision>
  <dcterms:created xsi:type="dcterms:W3CDTF">2026-07-06T23:47:17Z</dcterms:created>
  <dcterms:modified xsi:type="dcterms:W3CDTF">2026-07-09T07:36:35Z</dcterms:modified>
</cp:coreProperties>
</file>